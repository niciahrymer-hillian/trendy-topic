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320040" cy="192024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i="0">
                <a:solidFill>
                  <a:srgbClr val="E6EDF3"/>
                </a:solidFill>
                <a:latin typeface="Calibri"/>
              </a:rPr>
              <a:t>Trendy Topic</a:t>
            </a:r>
          </a:p>
          <a:p>
            <a:r>
              <a:rPr sz="3000" b="1" i="0">
                <a:solidFill>
                  <a:srgbClr val="4AA8FF"/>
                </a:solidFill>
                <a:latin typeface="Calibri"/>
              </a:rPr>
              <a:t>What the World Asks AI</a:t>
            </a:r>
          </a:p>
          <a:p>
            <a:r>
              <a:rPr sz="1800" b="0" i="0">
                <a:solidFill>
                  <a:srgbClr val="93A1B1"/>
                </a:solidFill>
                <a:latin typeface="Calibri"/>
              </a:rPr>
              <a:t>A Global AI Conversation Analytics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6EDF3"/>
                </a:solidFill>
                <a:latin typeface="Calibri"/>
              </a:rPr>
              <a:t>Shocka &amp; Niciah  ·  Capstone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4AA8FF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E6EDF3"/>
                </a:solidFill>
                <a:latin typeface="Calibr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17320"/>
            <a:ext cx="4023360" cy="63500"/>
          </a:xfrm>
          <a:prstGeom prst="rect">
            <a:avLst/>
          </a:prstGeom>
          <a:solidFill>
            <a:srgbClr val="4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93A1B1"/>
                </a:solidFill>
                <a:latin typeface="Calibri"/>
              </a:rPr>
              <a:t>Lead: Shocka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Millions talk to AI daily, but those conversations are a black box.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93A1B1"/>
                </a:solidFill>
                <a:latin typeface="Calibri"/>
              </a:rPr>
              <a:t>– We don't know what people actually ask — or how it differs by country and language.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Raw logs are huge, messy, multilingual, and privacy-sensitive — unusable as-is.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Research question: what does the world ask AI, and how do interests, tone, and language differ across countries?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A1B1"/>
                </a:solidFill>
                <a:latin typeface="Calibri"/>
              </a:rPr>
              <a:t>Trendy Topic — What the World Asks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A1B1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4AA8FF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E6EDF3"/>
                </a:solidFill>
                <a:latin typeface="Calibri"/>
              </a:rPr>
              <a:t>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17320"/>
            <a:ext cx="4023360" cy="63500"/>
          </a:xfrm>
          <a:prstGeom prst="rect">
            <a:avLst/>
          </a:prstGeom>
          <a:solidFill>
            <a:srgbClr val="4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93A1B1"/>
                </a:solidFill>
                <a:latin typeface="Calibri"/>
              </a:rPr>
              <a:t>Lead: Niciah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Trendy Topic: an interactive platform turning raw AI conversations into explorable, privacy-safe insight.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Combines data engineering + NLP + LLM analytics + geospatial visualization in one dashboard.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Interactive globe, country &amp; language analysis, sentiment, Curiosity Index, Q&amp;A, translation, and AI voice.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A1B1"/>
                </a:solidFill>
                <a:latin typeface="Calibri"/>
              </a:rPr>
              <a:t>Trendy Topic — What the World Asks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A1B1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4AA8FF"/>
                </a:solidFill>
                <a:latin typeface="Calibri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E6EDF3"/>
                </a:solidFill>
                <a:latin typeface="Calibri"/>
              </a:rPr>
              <a:t>The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17320"/>
            <a:ext cx="4023360" cy="63500"/>
          </a:xfrm>
          <a:prstGeom prst="rect">
            <a:avLst/>
          </a:prstGeom>
          <a:solidFill>
            <a:srgbClr val="4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93A1B1"/>
                </a:solidFill>
                <a:latin typeface="Calibri"/>
              </a:rPr>
              <a:t>Lead: Shocka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Source: WildChat real-world conversation corpus (Hugging Face, allenai/WildChat).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Working sample: 12,000 conversations across 8 countries.</a:t>
            </a:r>
          </a:p>
          <a:p>
            <a:pPr lvl="1">
              <a:spcAft>
                <a:spcPts val="800"/>
              </a:spcAft>
            </a:pPr>
            <a:r>
              <a:rPr sz="1700" b="0" i="0">
                <a:solidFill>
                  <a:srgbClr val="93A1B1"/>
                </a:solidFill>
                <a:latin typeface="Calibri"/>
              </a:rPr>
              <a:t>– Brazil, Canada, China, France, Great Britain, Japan, Russia, USA.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Native languages preserved (EN, PT, FR, ZH, JA, RU) — real signal, not English-only.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Formats supported: CSV, JSON, Parquet (streamed).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A1B1"/>
                </a:solidFill>
                <a:latin typeface="Calibri"/>
              </a:rPr>
              <a:t>Trendy Topic — What the World Asks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A1B1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4AA8F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E6EDF3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17320"/>
            <a:ext cx="4023360" cy="63500"/>
          </a:xfrm>
          <a:prstGeom prst="rect">
            <a:avLst/>
          </a:prstGeom>
          <a:solidFill>
            <a:srgbClr val="4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93A1B1"/>
                </a:solidFill>
                <a:latin typeface="Calibri"/>
              </a:rPr>
              <a:t>Lead: Niciah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Frontend: React + Vite + TypeScript with ECharts (port 5173).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Backend: FastAPI Python service exposing analytics endpoints (port 8000).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Processing: Pandas cleaning/enrichment, shared multilingual classifier, VADER sentiment, optional PostgreSQL.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AI services: LLM extraction, embeddings for similarity/clustering, translation, ElevenLabs voice.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One-click run: VS Code 'Start Trendy Topic Stack' boots API + UI together.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A1B1"/>
                </a:solidFill>
                <a:latin typeface="Calibri"/>
              </a:rPr>
              <a:t>Trendy Topic — What the World Asks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A1B1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4AA8FF"/>
                </a:solidFill>
                <a:latin typeface="Calibri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E6EDF3"/>
                </a:solidFill>
                <a:latin typeface="Calibri"/>
              </a:rPr>
              <a:t>Data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17320"/>
            <a:ext cx="4023360" cy="63500"/>
          </a:xfrm>
          <a:prstGeom prst="rect">
            <a:avLst/>
          </a:prstGeom>
          <a:solidFill>
            <a:srgbClr val="4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93A1B1"/>
                </a:solidFill>
                <a:latin typeface="Calibri"/>
              </a:rPr>
              <a:t>Lead: Shocka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Ingest: stream WildChat rows by country into a common schema.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Clean: normalize text, drop dupes/bad timestamps, mask PII (emails, tokens, secret-like blobs).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Enrich: language detection → multilingual topic classification → sentiment.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Classify smartly: boundary-aware keywords across 7 languages (basketball → Sports, trains → Transportation).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Serve: tidy tables behind FastAPI; validated at 0 errors / 0 dupes / 0 bad timestamps.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A1B1"/>
                </a:solidFill>
                <a:latin typeface="Calibri"/>
              </a:rPr>
              <a:t>Trendy Topic — What the World Asks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A1B1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4AA8FF"/>
                </a:solidFill>
                <a:latin typeface="Calibri"/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E6EDF3"/>
                </a:solidFill>
                <a:latin typeface="Calibri"/>
              </a:rPr>
              <a:t>Interactive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17320"/>
            <a:ext cx="4023360" cy="63500"/>
          </a:xfrm>
          <a:prstGeom prst="rect">
            <a:avLst/>
          </a:prstGeom>
          <a:solidFill>
            <a:srgbClr val="4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93A1B1"/>
                </a:solidFill>
                <a:latin typeface="Calibri"/>
              </a:rPr>
              <a:t>Lead: Niciah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Interactive Globe: spin and click a country to fly in and load its data.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Global Overview: totals, redaction %, ranked topics, topic hierarchy tree.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Compare Countries: two nations side-by-side on dual globes.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Explore (tabbed): Topics trends · Languages heatmap · Sentiment split.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A1B1"/>
                </a:solidFill>
                <a:latin typeface="Calibri"/>
              </a:rPr>
              <a:t>Trendy Topic — What the World Asks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A1B1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4AA8FF"/>
                </a:solidFill>
                <a:latin typeface="Calibri"/>
              </a:rPr>
              <a:t>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E6EDF3"/>
                </a:solidFill>
                <a:latin typeface="Calibri"/>
              </a:rPr>
              <a:t>Key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17320"/>
            <a:ext cx="4023360" cy="63500"/>
          </a:xfrm>
          <a:prstGeom prst="rect">
            <a:avLst/>
          </a:prstGeom>
          <a:solidFill>
            <a:srgbClr val="4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93A1B1"/>
                </a:solidFill>
                <a:latin typeface="Calibri"/>
              </a:rPr>
              <a:t>Lead: Shocka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Global Curiosity Index: the most-asked questions across the corpus, ranked — our signature finding.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Question Heatmap: topic intensity by country at a glance.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Cross-cultural signal: Brazil over-indexes on Sports; Japan leans into Translation &amp; Language.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AI Insights: LLM-extracted trends &amp; story angles; embeddings cluster countries by what they ask.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Ask the Dataset: plain-English questions answered against live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A1B1"/>
                </a:solidFill>
                <a:latin typeface="Calibri"/>
              </a:rPr>
              <a:t>Trendy Topic — What the World Asks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A1B1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4AA8FF"/>
                </a:solidFill>
                <a:latin typeface="Calibri"/>
              </a:rPr>
              <a:t>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E6EDF3"/>
                </a:solidFill>
                <a:latin typeface="Calibri"/>
              </a:rPr>
              <a:t>Ethics &amp; Privacy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17320"/>
            <a:ext cx="4023360" cy="63500"/>
          </a:xfrm>
          <a:prstGeom prst="rect">
            <a:avLst/>
          </a:prstGeom>
          <a:solidFill>
            <a:srgbClr val="4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93A1B1"/>
                </a:solidFill>
                <a:latin typeface="Calibri"/>
              </a:rPr>
              <a:t>Lead: Niciah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Privacy by design: raw sensitive data is never displayed; all views are aggregated.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PII masking runs before analysis; a redaction % is shown transparently.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Translation operates on safe summaries, never raw personal prompts.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Multilingual fairness: native languages preserved so no community is misrepresented.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A1B1"/>
                </a:solidFill>
                <a:latin typeface="Calibri"/>
              </a:rPr>
              <a:t>Trendy Topic — What the World Asks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A1B1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4AA8FF"/>
                </a:solidFill>
                <a:latin typeface="Calibri"/>
              </a:rPr>
              <a:t>PORTFOLIO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E6EDF3"/>
                </a:solidFill>
                <a:latin typeface="Calibri"/>
              </a:rPr>
              <a:t>Portfolio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17320"/>
            <a:ext cx="4023360" cy="63500"/>
          </a:xfrm>
          <a:prstGeom prst="rect">
            <a:avLst/>
          </a:prstGeom>
          <a:solidFill>
            <a:srgbClr val="4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93A1B1"/>
                </a:solidFill>
                <a:latin typeface="Calibri"/>
              </a:rPr>
              <a:t>Lead: Shocka &amp; Niciah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Engineering breadth: end-to-end data eng + NLP + LLM + full-stack dashboard.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Production habits: 235 passing tests, secret-scanning, type-checked frontend, one-click run.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Real-world relevance: serves researchers, consultancies, and product teams.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E6EDF3"/>
                </a:solidFill>
                <a:latin typeface="Calibri"/>
              </a:rPr>
              <a:t>▸ Storytelling: turns 3M+ potential conversations into an accessible, privacy-safe narrative.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556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A1B1"/>
                </a:solidFill>
                <a:latin typeface="Calibri"/>
              </a:rPr>
              <a:t>Trendy Topic — What the World Asks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A1B1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320040" cy="2194560"/>
          </a:xfrm>
          <a:prstGeom prst="rect">
            <a:avLst/>
          </a:prstGeom>
          <a:solidFill>
            <a:srgbClr val="4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 i="0">
                <a:solidFill>
                  <a:srgbClr val="E6EDF3"/>
                </a:solidFill>
                <a:latin typeface="Calibri"/>
              </a:rPr>
              <a:t>Thank you</a:t>
            </a:r>
          </a:p>
          <a:p>
            <a:r>
              <a:rPr sz="1800" b="0" i="1">
                <a:solidFill>
                  <a:srgbClr val="93A1B1"/>
                </a:solidFill>
                <a:latin typeface="Calibri"/>
              </a:rPr>
              <a:t>From a multilingual pipeline to an interactive globe to natural-language Q&amp;A — Trendy Topic answers what the world asks AI.</a:t>
            </a:r>
          </a:p>
          <a:p>
            <a:r>
              <a:rPr sz="1800" b="1" i="0">
                <a:solidFill>
                  <a:srgbClr val="E6EDF3"/>
                </a:solidFill>
                <a:latin typeface="Calibri"/>
              </a:rPr>
              <a:t>Shocka &amp; Niciah</a:t>
            </a:r>
          </a:p>
          <a:p>
            <a:r>
              <a:rPr sz="1600" b="0" i="0">
                <a:solidFill>
                  <a:srgbClr val="4AA8FF"/>
                </a:solidFill>
                <a:latin typeface="Calibri"/>
              </a:rPr>
              <a:t>github.com/niciahrymer-hillian/trendy-topic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A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556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A1B1"/>
                </a:solidFill>
                <a:latin typeface="Calibri"/>
              </a:rPr>
              <a:t>Trendy Topic — What the World Asks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A1B1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